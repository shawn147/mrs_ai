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D9525E-63EC-43A3-A6BF-E3B8EED3A18F}" v="90" dt="2026-09-01T13:24:21.9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Original supplied VU presentation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main_file.docx.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main_file.docx; srs.docx.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main_file.docx; srs.docx; implemented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srs.docx process-model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srs.docx use-case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srs.docx FR-01 to FR-05.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design.docx architecture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srs.docx Gantt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design.docx sequence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design.docx class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design.docx ER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design.docx storage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User-supplied application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requirements.txt and project source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5C241027-F283-40A9-8823-8B20099AC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1371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4400" b="0" u="none">
                <a:solidFill>
                  <a:srgbClr val="E5FFFF"/>
                </a:solidFill>
                <a:latin typeface="Tahoma"/>
                <a:ea typeface="Tahoma"/>
                <a:cs typeface="Tahoma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C73A4AF9-663E-47BC-9BDF-EBC77412C25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1981080"/>
            <a:ext cx="82296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799"/>
              </a:spcBef>
              <a:buClr>
                <a:srgbClr val="00CCFF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1pPr>
            <a:lvl2pPr algn="l">
              <a:spcBef>
                <a:spcPts val="799"/>
              </a:spcBef>
              <a:buClr>
                <a:srgbClr val="FFCC00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2pPr>
            <a:lvl3pPr algn="l">
              <a:spcBef>
                <a:spcPts val="799"/>
              </a:spcBef>
              <a:buClr>
                <a:srgbClr val="00CCFF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3pPr>
            <a:lvl4pPr algn="l">
              <a:spcBef>
                <a:spcPts val="799"/>
              </a:spcBef>
              <a:buClr>
                <a:srgbClr val="FFCC00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4pPr>
            <a:lvl5pPr algn="l">
              <a:spcBef>
                <a:spcPts val="799"/>
              </a:spcBef>
              <a:buClr>
                <a:srgbClr val="00CCFF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5pPr>
            <a:lvl6pPr algn="l">
              <a:spcBef>
                <a:spcPts val="799"/>
              </a:spcBef>
              <a:buClr>
                <a:srgbClr val="FFFFFF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6pPr>
            <a:lvl7pPr algn="l">
              <a:spcBef>
                <a:spcPts val="799"/>
              </a:spcBef>
              <a:buClr>
                <a:srgbClr val="FFFFFF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defRPr>
            </a:lvl7pPr>
          </a:lstStyle>
          <a:p>
            <a:pPr marL="343080" indent="-343080" algn="l">
              <a:spcBef>
                <a:spcPts val="799"/>
              </a:spcBef>
              <a:buClr>
                <a:srgbClr val="00CCFF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Click to edit the outline text format</a:t>
            </a:r>
          </a:p>
          <a:p>
            <a:pPr marL="743040" lvl="1" indent="-285840" algn="l">
              <a:spcBef>
                <a:spcPts val="799"/>
              </a:spcBef>
              <a:buClr>
                <a:srgbClr val="FFCC00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Second Outline Level</a:t>
            </a:r>
          </a:p>
          <a:p>
            <a:pPr marL="1143000" lvl="2" indent="-228600" algn="l">
              <a:spcBef>
                <a:spcPts val="799"/>
              </a:spcBef>
              <a:buClr>
                <a:srgbClr val="00CCFF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Third Outline Level</a:t>
            </a:r>
          </a:p>
          <a:p>
            <a:pPr marL="1600200" lvl="3" indent="-228600" algn="l">
              <a:spcBef>
                <a:spcPts val="799"/>
              </a:spcBef>
              <a:buClr>
                <a:srgbClr val="FFCC00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Fourth Outline Level</a:t>
            </a:r>
          </a:p>
          <a:p>
            <a:pPr marL="2057400" lvl="4" indent="-228600" algn="l">
              <a:spcBef>
                <a:spcPts val="799"/>
              </a:spcBef>
              <a:buClr>
                <a:srgbClr val="00CCFF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Fifth Outline Level</a:t>
            </a:r>
          </a:p>
          <a:p>
            <a:pPr marL="2057400" lvl="5" indent="-228600" algn="l">
              <a:spcBef>
                <a:spcPts val="799"/>
              </a:spcBef>
              <a:buClr>
                <a:srgbClr val="FFFFFF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Sixth Outline Level</a:t>
            </a:r>
          </a:p>
          <a:p>
            <a:pPr marL="2057400" lvl="6" indent="-228600" algn="l">
              <a:spcBef>
                <a:spcPts val="799"/>
              </a:spcBef>
              <a:buClr>
                <a:srgbClr val="FFFFFF"/>
              </a:buClr>
              <a:buSzPct val="65000"/>
              <a:buFont typeface="Wingdings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200" b="0" u="none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ln w="38160">
            <a:noFill/>
          </a:ln>
        </p:spPr>
      </p:pic>
    </p:spTree>
    <p:extLst>
      <p:ext uri="{BB962C8B-B14F-4D97-AF65-F5344CB8AC3E}">
        <p14:creationId xmlns:p14="http://schemas.microsoft.com/office/powerpoint/2010/main" val="49489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>
            <a:extLst>
              <a:ext uri="{FF2B5EF4-FFF2-40B4-BE49-F238E27FC236}">
                <a16:creationId xmlns:a16="http://schemas.microsoft.com/office/drawing/2014/main" id="{66CDD59E-0B40-42E7-9DE9-97BF95940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20" y="1066680"/>
            <a:ext cx="8001000" cy="274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59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Medicine Recommendation System</a:t>
            </a:r>
          </a:p>
        </p:txBody>
      </p:sp>
      <p:pic>
        <p:nvPicPr>
          <p:cNvPr id="11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09880" y="5029200"/>
            <a:ext cx="2014560" cy="1463400"/>
          </a:xfrm>
          <a:prstGeom prst="rect">
            <a:avLst/>
          </a:prstGeom>
          <a:ln w="38160">
            <a:noFill/>
          </a:ln>
        </p:spPr>
      </p:pic>
    </p:spTree>
    <p:extLst>
      <p:ext uri="{BB962C8B-B14F-4D97-AF65-F5344CB8AC3E}">
        <p14:creationId xmlns:p14="http://schemas.microsoft.com/office/powerpoint/2010/main" val="1169471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>
            <a:extLst>
              <a:ext uri="{FF2B5EF4-FFF2-40B4-BE49-F238E27FC236}">
                <a16:creationId xmlns:a16="http://schemas.microsoft.com/office/drawing/2014/main" id="{8181B79D-4936-4F7A-A9CD-C34FCD932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13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59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Group Members Introduction</a:t>
            </a:r>
          </a:p>
        </p:txBody>
      </p:sp>
      <p:sp>
        <p:nvSpPr>
          <p:cNvPr id="11" name="PlaceHolder 2">
            <a:extLst>
              <a:ext uri="{FF2B5EF4-FFF2-40B4-BE49-F238E27FC236}">
                <a16:creationId xmlns:a16="http://schemas.microsoft.com/office/drawing/2014/main" id="{8867E1CB-196E-4313-A382-2D09E782E92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02256" y="2514240"/>
            <a:ext cx="7054252" cy="225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5812"/>
          </a:bodyPr>
          <a:lstStyle/>
          <a:p>
            <a:pPr marL="194310" indent="-194310">
              <a:spcBef>
                <a:spcPts val="7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br>
              <a:rPr lang="en-US" dirty="0"/>
            </a:br>
            <a:r>
              <a:rPr dirty="0">
                <a:solidFill>
                  <a:schemeClr val="bg1"/>
                </a:solidFill>
              </a:rPr>
              <a:t>Student ID: BC190411036</a:t>
            </a:r>
            <a:r>
              <a:rPr lang="en-US" dirty="0">
                <a:solidFill>
                  <a:schemeClr val="bg1"/>
                </a:solidFill>
              </a:rPr>
              <a:t>;</a:t>
            </a:r>
            <a:br>
              <a:rPr lang="en-US"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Team ID: themushtaq48;</a:t>
            </a:r>
            <a:br>
              <a:rPr lang="en-US"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Supervisor: Dr. Mushtaq Hussain;</a:t>
            </a:r>
            <a:br>
              <a:rPr lang="en-US"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Virtual University of Pakistan.</a:t>
            </a:r>
            <a:endParaRPr lang="en-US" sz="3200" b="0" u="none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98539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>
            <a:extLst>
              <a:ext uri="{FF2B5EF4-FFF2-40B4-BE49-F238E27FC236}">
                <a16:creationId xmlns:a16="http://schemas.microsoft.com/office/drawing/2014/main" id="{5ED7585D-C6DE-479D-AF82-33C680EF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760" y="228600"/>
            <a:ext cx="7772400" cy="182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INTRODUCTION OF PROJECT</a:t>
            </a:r>
          </a:p>
        </p:txBody>
      </p:sp>
      <p:pic>
        <p:nvPicPr>
          <p:cNvPr id="18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05560" y="6305400"/>
            <a:ext cx="838440" cy="552600"/>
          </a:xfrm>
          <a:prstGeom prst="rect">
            <a:avLst/>
          </a:prstGeom>
          <a:ln w="38160">
            <a:noFill/>
          </a:ln>
        </p:spPr>
      </p:pic>
      <p:sp>
        <p:nvSpPr>
          <p:cNvPr id="15" name="Text Box 9">
            <a:extLst>
              <a:ext uri="{FF2B5EF4-FFF2-40B4-BE49-F238E27FC236}">
                <a16:creationId xmlns:a16="http://schemas.microsoft.com/office/drawing/2014/main" id="{188B7377-FC2F-4F85-9B97-54954D25920D}"/>
              </a:ext>
            </a:extLst>
          </p:cNvPr>
          <p:cNvSpPr>
            <a:spLocks noGrp="1"/>
          </p:cNvSpPr>
          <p:nvPr/>
        </p:nvSpPr>
        <p:spPr>
          <a:xfrm>
            <a:off x="914400" y="2666880"/>
            <a:ext cx="7543800" cy="3080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74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2800" b="0" u="none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An educational AI-powered Streamlit prototype that preprocesses symptoms, compares Logistic Regression and a Keras neural network, predicts a probable condition, and ranks medicine candidates with confidence, explanation, safety notes, and a clinician-confirmation warning.</a:t>
            </a:r>
          </a:p>
        </p:txBody>
      </p:sp>
    </p:spTree>
    <p:extLst>
      <p:ext uri="{BB962C8B-B14F-4D97-AF65-F5344CB8AC3E}">
        <p14:creationId xmlns:p14="http://schemas.microsoft.com/office/powerpoint/2010/main" val="4019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7">
            <a:extLst>
              <a:ext uri="{FF2B5EF4-FFF2-40B4-BE49-F238E27FC236}">
                <a16:creationId xmlns:a16="http://schemas.microsoft.com/office/drawing/2014/main" id="{BB166CAF-5624-4F96-8AD9-3761D8EB97F4}"/>
              </a:ext>
            </a:extLst>
          </p:cNvPr>
          <p:cNvSpPr>
            <a:spLocks noGrp="1"/>
          </p:cNvSpPr>
          <p:nvPr/>
        </p:nvSpPr>
        <p:spPr>
          <a:xfrm>
            <a:off x="1600200" y="1295280"/>
            <a:ext cx="4876560" cy="366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spcBef>
                <a:spcPts val="1125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800" b="0" u="none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900767"/>
            <a:ext cx="7810500" cy="381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59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>
            <a:extLst>
              <a:ext uri="{FF2B5EF4-FFF2-40B4-BE49-F238E27FC236}">
                <a16:creationId xmlns:a16="http://schemas.microsoft.com/office/drawing/2014/main" id="{597A8286-2F56-4420-BEF0-A494C01D9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304560"/>
            <a:ext cx="7772400" cy="99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Use Case Diagram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592461"/>
            <a:ext cx="7810500" cy="414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37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>
            <a:extLst>
              <a:ext uri="{FF2B5EF4-FFF2-40B4-BE49-F238E27FC236}">
                <a16:creationId xmlns:a16="http://schemas.microsoft.com/office/drawing/2014/main" id="{614EE15F-692F-43FE-AAF7-16F1836C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160"/>
            <a:ext cx="7772400" cy="182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Business Rules Catalog</a:t>
            </a:r>
          </a:p>
        </p:txBody>
      </p:sp>
      <p:sp>
        <p:nvSpPr>
          <p:cNvPr id="21" name="PlaceHolder 2">
            <a:extLst>
              <a:ext uri="{FF2B5EF4-FFF2-40B4-BE49-F238E27FC236}">
                <a16:creationId xmlns:a16="http://schemas.microsoft.com/office/drawing/2014/main" id="{0B64A0B9-95D2-4E39-8982-0BBAB22A9C7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206261" y="1887628"/>
            <a:ext cx="6846497" cy="301409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spcBef>
                <a:spcPts val="7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3200" b="0" u="none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FR-01: data preparation;</a:t>
            </a:r>
            <a:br>
              <a:rPr lang="en-US" sz="320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</a:br>
            <a:r>
              <a:rPr sz="3200" b="0" u="none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FR-02: ML/DL training and testing;</a:t>
            </a:r>
            <a:br>
              <a:rPr lang="en-US" sz="320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</a:br>
            <a:r>
              <a:rPr sz="3200" b="0" u="none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FR-03: model optimization;</a:t>
            </a:r>
            <a:br>
              <a:rPr lang="en-US" sz="320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</a:br>
            <a:r>
              <a:rPr sz="3200" b="0" u="none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FR-04: condition prediction and medicine ranking;</a:t>
            </a:r>
            <a:br>
              <a:rPr lang="en-US" sz="320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</a:br>
            <a:r>
              <a:rPr sz="3200" b="0" u="none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FR-05: </a:t>
            </a:r>
            <a:r>
              <a:rPr sz="3200" b="0" u="none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Streamlit</a:t>
            </a:r>
            <a:r>
              <a:rPr sz="3200" b="0" u="none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user interface.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88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>
            <a:extLst>
              <a:ext uri="{FF2B5EF4-FFF2-40B4-BE49-F238E27FC236}">
                <a16:creationId xmlns:a16="http://schemas.microsoft.com/office/drawing/2014/main" id="{558DBEDA-E027-4473-906E-BEB947A64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13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1" i="1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Architectural Design</a:t>
            </a:r>
            <a:endParaRPr sz="4400" b="0" u="none">
              <a:solidFill>
                <a:srgbClr val="E5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C2E1A19A-7FE5-4393-9BEC-671053DC533E}"/>
              </a:ext>
            </a:extLst>
          </p:cNvPr>
          <p:cNvSpPr>
            <a:spLocks noGrp="1"/>
          </p:cNvSpPr>
          <p:nvPr/>
        </p:nvSpPr>
        <p:spPr>
          <a:xfrm>
            <a:off x="0" y="138564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-46440" rIns="90000" bIns="-46440" anchor="ctr">
            <a:spAutoFit/>
          </a:bodyPr>
          <a:lstStyle/>
          <a:p>
            <a:endParaRPr sz="1800" b="0" u="none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469231"/>
            <a:ext cx="7810500" cy="449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07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>
            <a:extLst>
              <a:ext uri="{FF2B5EF4-FFF2-40B4-BE49-F238E27FC236}">
                <a16:creationId xmlns:a16="http://schemas.microsoft.com/office/drawing/2014/main" id="{E8B0E23A-A099-4F76-8961-280650397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13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Team Structure</a:t>
            </a:r>
          </a:p>
        </p:txBody>
      </p:sp>
      <p:sp>
        <p:nvSpPr>
          <p:cNvPr id="26" name="PlaceHolder 2">
            <a:extLst>
              <a:ext uri="{FF2B5EF4-FFF2-40B4-BE49-F238E27FC236}">
                <a16:creationId xmlns:a16="http://schemas.microsoft.com/office/drawing/2014/main" id="{5F0C559E-173A-447C-974D-A6CD3AC3C9D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981080"/>
            <a:ext cx="8229600" cy="228899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037" lnSpcReduction="20000"/>
          </a:bodyPr>
          <a:lstStyle/>
          <a:p>
            <a:pPr marL="194310" indent="-194310">
              <a:spcBef>
                <a:spcPts val="799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br>
              <a:rPr lang="en-US" sz="320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</a:br>
            <a:r>
              <a:rPr sz="3200" b="0" u="none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Student BC190411036: requirements, data preparation, model implementation, </a:t>
            </a:r>
            <a:r>
              <a:rPr sz="3200" b="0" u="none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Streamlit</a:t>
            </a:r>
            <a:r>
              <a:rPr sz="3200" b="0" u="none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interface, testing, documentation, and presentation.</a:t>
            </a:r>
            <a:br>
              <a:rPr lang="en-US" sz="320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</a:br>
            <a:br>
              <a:rPr lang="en-US" sz="3200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</a:br>
            <a:r>
              <a:rPr sz="3200" b="0" u="none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Supervisor Dr. Mushtaq Hussain: academic guidance and review.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23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11217836-5F4E-4681-B279-3735D818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13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Project Schedule</a:t>
            </a: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EBF9D4CA-A429-472E-A9CE-F7A7EDC750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-46440" rIns="90000" bIns="-4644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800" b="0" u="none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588558"/>
            <a:ext cx="7810500" cy="42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73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>
            <a:extLst>
              <a:ext uri="{FF2B5EF4-FFF2-40B4-BE49-F238E27FC236}">
                <a16:creationId xmlns:a16="http://schemas.microsoft.com/office/drawing/2014/main" id="{346FC2C5-D8F1-4453-BE4F-D22FC6F49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6840"/>
            <a:ext cx="777240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Sequence Diagrams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6516" y="1324514"/>
            <a:ext cx="6390968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4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>
            <a:extLst>
              <a:ext uri="{FF2B5EF4-FFF2-40B4-BE49-F238E27FC236}">
                <a16:creationId xmlns:a16="http://schemas.microsoft.com/office/drawing/2014/main" id="{8F44396F-BCDA-4D0F-8306-5D3CBDB7D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151920"/>
            <a:ext cx="822960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Logical Model/Class Diagram</a:t>
            </a:r>
          </a:p>
        </p:txBody>
      </p:sp>
      <p:sp>
        <p:nvSpPr>
          <p:cNvPr id="33" name="Rectangle 585">
            <a:extLst>
              <a:ext uri="{FF2B5EF4-FFF2-40B4-BE49-F238E27FC236}">
                <a16:creationId xmlns:a16="http://schemas.microsoft.com/office/drawing/2014/main" id="{ACD4C552-6E3E-4246-8920-D7432C390BE5}"/>
              </a:ext>
            </a:extLst>
          </p:cNvPr>
          <p:cNvSpPr>
            <a:spLocks noGrp="1"/>
          </p:cNvSpPr>
          <p:nvPr/>
        </p:nvSpPr>
        <p:spPr>
          <a:xfrm>
            <a:off x="0" y="137628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-46440" rIns="90000" bIns="-46440" anchor="ctr">
            <a:spAutoFit/>
          </a:bodyPr>
          <a:lstStyle/>
          <a:p>
            <a:endParaRPr sz="1800" b="0" u="none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107" y="1095375"/>
            <a:ext cx="7211786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87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5">
            <a:extLst>
              <a:ext uri="{FF2B5EF4-FFF2-40B4-BE49-F238E27FC236}">
                <a16:creationId xmlns:a16="http://schemas.microsoft.com/office/drawing/2014/main" id="{A8ACC00E-9011-4BD3-9375-81FEE495FF76}"/>
              </a:ext>
            </a:extLst>
          </p:cNvPr>
          <p:cNvSpPr>
            <a:spLocks noGrp="1"/>
          </p:cNvSpPr>
          <p:nvPr/>
        </p:nvSpPr>
        <p:spPr>
          <a:xfrm>
            <a:off x="0" y="177624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-46440" rIns="90000" bIns="-46440" anchor="ctr">
            <a:spAutoFit/>
          </a:bodyPr>
          <a:lstStyle/>
          <a:p>
            <a:endParaRPr sz="1800" b="0" u="none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46D029B4-DA0B-473D-A8CF-1156E3993677}"/>
              </a:ext>
            </a:extLst>
          </p:cNvPr>
          <p:cNvSpPr>
            <a:spLocks noGrp="1"/>
          </p:cNvSpPr>
          <p:nvPr/>
        </p:nvSpPr>
        <p:spPr>
          <a:xfrm>
            <a:off x="0" y="5081400"/>
            <a:ext cx="9144000" cy="3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-46440" rIns="90000" bIns="-46440" anchor="ctr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sz="1800" b="0" u="none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6" name="PlaceHolder 1">
            <a:extLst>
              <a:ext uri="{FF2B5EF4-FFF2-40B4-BE49-F238E27FC236}">
                <a16:creationId xmlns:a16="http://schemas.microsoft.com/office/drawing/2014/main" id="{2E052EB2-8C70-4892-A483-1D7B15EB1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60" y="380520"/>
            <a:ext cx="8229600" cy="76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Entity-Relationship Diagram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4222" y="1190625"/>
            <a:ext cx="7055556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161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>
            <a:extLst>
              <a:ext uri="{FF2B5EF4-FFF2-40B4-BE49-F238E27FC236}">
                <a16:creationId xmlns:a16="http://schemas.microsoft.com/office/drawing/2014/main" id="{6946E970-85BF-4389-9F63-D15B6276D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457200"/>
            <a:ext cx="777240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0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Database Diagram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294209"/>
            <a:ext cx="8001000" cy="465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164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>
            <a:extLst>
              <a:ext uri="{FF2B5EF4-FFF2-40B4-BE49-F238E27FC236}">
                <a16:creationId xmlns:a16="http://schemas.microsoft.com/office/drawing/2014/main" id="{805B322F-9E33-4846-925D-5C5379EB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457200"/>
            <a:ext cx="7772400" cy="83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0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User Interfaces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625" y="1335563"/>
            <a:ext cx="8286750" cy="466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312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>
            <a:extLst>
              <a:ext uri="{FF2B5EF4-FFF2-40B4-BE49-F238E27FC236}">
                <a16:creationId xmlns:a16="http://schemas.microsoft.com/office/drawing/2014/main" id="{609965F2-ABB5-44BA-87AB-A8CA3EDA4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0880"/>
            <a:ext cx="8229600" cy="1371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u="none">
                <a:solidFill>
                  <a:srgbClr val="E5FFFF"/>
                </a:solidFill>
                <a:latin typeface="Tahoma"/>
                <a:ea typeface="Tahoma"/>
                <a:cs typeface="Tahoma"/>
              </a:rPr>
              <a:t>Tools</a:t>
            </a:r>
          </a:p>
        </p:txBody>
      </p:sp>
      <p:sp>
        <p:nvSpPr>
          <p:cNvPr id="41" name="PlaceHolder 2">
            <a:extLst>
              <a:ext uri="{FF2B5EF4-FFF2-40B4-BE49-F238E27FC236}">
                <a16:creationId xmlns:a16="http://schemas.microsoft.com/office/drawing/2014/main" id="{3EA700D9-9FE6-4F6B-9958-1C0DC431722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395203"/>
            <a:ext cx="8229600" cy="5096773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5150"/>
          </a:bodyPr>
          <a:lstStyle/>
          <a:p>
            <a:pPr marL="857250" indent="-514350">
              <a:spcBef>
                <a:spcPts val="799"/>
              </a:spcBef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>
                <a:solidFill>
                  <a:schemeClr val="bg1"/>
                </a:solidFill>
              </a:rPr>
              <a:t>Python</a:t>
            </a:r>
            <a:endParaRPr lang="en-US" sz="3200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marL="857250" indent="-514350">
              <a:spcBef>
                <a:spcPts val="799"/>
              </a:spcBef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>
                <a:solidFill>
                  <a:schemeClr val="bg1"/>
                </a:solidFill>
              </a:rPr>
              <a:t>Pandas</a:t>
            </a:r>
            <a:endParaRPr lang="en-US" sz="3200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marL="857250" indent="-514350">
              <a:spcBef>
                <a:spcPts val="799"/>
              </a:spcBef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dirty="0">
                <a:solidFill>
                  <a:schemeClr val="bg1"/>
                </a:solidFill>
              </a:rPr>
              <a:t>NumPy</a:t>
            </a:r>
            <a:endParaRPr lang="en-US" sz="3200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marL="857250" indent="-514350">
              <a:spcBef>
                <a:spcPts val="799"/>
              </a:spcBef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dirty="0">
                <a:solidFill>
                  <a:schemeClr val="bg1"/>
                </a:solidFill>
              </a:rPr>
              <a:t>Scikit-learn</a:t>
            </a:r>
            <a:endParaRPr lang="en-US" sz="3200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marL="857250" indent="-514350">
              <a:spcBef>
                <a:spcPts val="799"/>
              </a:spcBef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dirty="0">
                <a:solidFill>
                  <a:schemeClr val="bg1"/>
                </a:solidFill>
              </a:rPr>
              <a:t>TensorFlow/</a:t>
            </a:r>
            <a:r>
              <a:rPr dirty="0" err="1">
                <a:solidFill>
                  <a:schemeClr val="bg1"/>
                </a:solidFill>
              </a:rPr>
              <a:t>Keras</a:t>
            </a:r>
            <a:endParaRPr lang="en-US" sz="3200" dirty="0" err="1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marL="857250" indent="-514350">
              <a:spcBef>
                <a:spcPts val="799"/>
              </a:spcBef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dirty="0" err="1">
                <a:solidFill>
                  <a:schemeClr val="bg1"/>
                </a:solidFill>
              </a:rPr>
              <a:t>Streamlit</a:t>
            </a:r>
            <a:endParaRPr lang="en-US" sz="3200" dirty="0" err="1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marL="857250" indent="-514350">
              <a:spcBef>
                <a:spcPts val="799"/>
              </a:spcBef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dirty="0">
                <a:solidFill>
                  <a:schemeClr val="bg1"/>
                </a:solidFill>
              </a:rPr>
              <a:t>Matplotlib</a:t>
            </a:r>
            <a:endParaRPr lang="en-US" sz="3200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marL="857250" indent="-514350">
              <a:spcBef>
                <a:spcPts val="799"/>
              </a:spcBef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>
                <a:solidFill>
                  <a:schemeClr val="bg1"/>
                </a:solidFill>
              </a:rPr>
              <a:t>Seaborn</a:t>
            </a:r>
            <a:endParaRPr lang="en-US" sz="3200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marL="857250" indent="-514350">
              <a:spcBef>
                <a:spcPts val="799"/>
              </a:spcBef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>
                <a:solidFill>
                  <a:schemeClr val="bg1"/>
                </a:solidFill>
              </a:rPr>
              <a:t>Jupyter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Notebook</a:t>
            </a:r>
            <a:endParaRPr lang="en-US" sz="3200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  <a:p>
            <a:pPr marL="857250" indent="-514350">
              <a:spcBef>
                <a:spcPts val="799"/>
              </a:spcBef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>
                <a:solidFill>
                  <a:schemeClr val="bg1"/>
                </a:solidFill>
              </a:rPr>
              <a:t>Google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Colab</a:t>
            </a:r>
            <a:r>
              <a:rPr lang="en-US" dirty="0">
                <a:solidFill>
                  <a:schemeClr val="bg1"/>
                </a:solidFill>
              </a:rPr>
              <a:t> and</a:t>
            </a:r>
            <a:r>
              <a:rPr dirty="0">
                <a:solidFill>
                  <a:schemeClr val="bg1"/>
                </a:solidFill>
              </a:rPr>
              <a:t> Visual Studio Code.</a:t>
            </a:r>
            <a:endParaRPr lang="en-US" sz="3200" b="0" u="none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07165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On-screen Show (4:3)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</vt:lpstr>
      <vt:lpstr>PowerPoint Presentation</vt:lpstr>
      <vt:lpstr>Medicine Recommendation System</vt:lpstr>
      <vt:lpstr>Group Members Introduction</vt:lpstr>
      <vt:lpstr>INTRODUCTION OF PROJECT</vt:lpstr>
      <vt:lpstr>PowerPoint Presentation</vt:lpstr>
      <vt:lpstr>Use Case Diagram</vt:lpstr>
      <vt:lpstr>Business Rules Catalog</vt:lpstr>
      <vt:lpstr>Architectural Design</vt:lpstr>
      <vt:lpstr>Team Structure</vt:lpstr>
      <vt:lpstr>Project Schedule</vt:lpstr>
      <vt:lpstr>Sequence Diagrams</vt:lpstr>
      <vt:lpstr>Logical Model/Class Diagram</vt:lpstr>
      <vt:lpstr>Entity-Relationship Diagram</vt:lpstr>
      <vt:lpstr>Database Diagram</vt:lpstr>
      <vt:lpstr>User Interfaces</vt:lpstr>
      <vt:lpstr>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cp:revision>36</cp:revision>
  <dcterms:created xsi:type="dcterms:W3CDTF">2026-09-01T07:42:03Z</dcterms:created>
  <dcterms:modified xsi:type="dcterms:W3CDTF">2026-09-01T13:24:41Z</dcterms:modified>
</cp:coreProperties>
</file>